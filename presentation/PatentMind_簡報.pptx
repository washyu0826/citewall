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or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4815459" cy="100584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868680" y="256032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專利 OA 答辯自動擬稿系統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611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上傳審查意見書,自動分類核駁理由、檢索前案、產出申復書草稿與法定期限 — </a:t>
            </a:r>
            <a:r>
              <a:rPr sz="1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機密資料全程不出事務所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4709160"/>
            <a:ext cx="4754880" cy="0"/>
          </a:xfrm>
          <a:prstGeom prst="bentConnector3">
            <a:avLst/>
          </a:prstGeom>
          <a:ln w="1524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6968" y="4892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ACD4"/>
                </a:solidFill>
                <a:latin typeface="Microsoft JhengHei"/>
                <a:ea typeface="Microsoft JhengHei"/>
                <a:cs typeface="Microsoft JhengHei"/>
              </a:rPr>
              <a:t>實機整合 TPIsoftware digiRunner × Dify　·　全鏈路約 28 秒（2026-06 實測）　·　1,615 項後端測試綠燈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D9CC4"/>
                </a:solidFill>
                <a:latin typeface="Microsoft JhengHei"/>
                <a:ea typeface="Microsoft JhengHei"/>
                <a:cs typeface="Microsoft JhengHei"/>
              </a:rPr>
              <a:t>NCCU GDGoC × Computex 2026　|　PatentMind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00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簡報大綱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213055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671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題目說明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94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這個系統做什麼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015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039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為什麼值得做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6360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系統怎麼運作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383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流程 · 模組 · 資料流 · AI 任務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3055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671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產品畫面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694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三個關鍵畫面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6499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4015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平台整合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8039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digiRunner × Dify 實機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9943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6360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現況與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0383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驗證數字 + 現場操作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01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題目說明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把答辯前置工作,從一個下午壓到一杯咖啡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背景：</a:t>
            </a:r>
            <a:r>
              <a:rPr sz="16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專利申請後,審查官常以「審查意見通知函(Office Action)」核駁部分請求項;事務所必須在法定期限內逐點答辯,否則申請失效。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本系統：</a:t>
            </a:r>
            <a:r>
              <a:rPr sz="16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讀懂 OA、找好證據、寫出草稿 — 律師只需審閱與定稿。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520440"/>
            <a:ext cx="1938528" cy="1627632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520440"/>
            <a:ext cx="1938528" cy="9144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3739896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1 </a:t>
            </a: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上傳 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4270248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PDF / 文字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自動萃取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123944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8376" y="3520440"/>
            <a:ext cx="1938528" cy="1627632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08376" y="3520440"/>
            <a:ext cx="1938528" cy="9144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3739896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2 </a:t>
            </a: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分類核駁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270248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新穎性 / 進步性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/ 明確性…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8616" y="4123944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72" y="3520440"/>
            <a:ext cx="1938528" cy="1627632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8072" y="3520440"/>
            <a:ext cx="1938528" cy="9144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4376" y="3739896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3 </a:t>
            </a: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檢索證據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270248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本案請求項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+ 前案文獻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4123944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87768" y="3520440"/>
            <a:ext cx="1938528" cy="1627632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7768" y="3520440"/>
            <a:ext cx="1938528" cy="9144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3739896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4 </a:t>
            </a: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產出草稿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4270248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申復書草稿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+ 法定期限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4123944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27464" y="3520440"/>
            <a:ext cx="1938528" cy="1627632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27464" y="3520440"/>
            <a:ext cx="1938528" cy="914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768" y="3739896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5 </a:t>
            </a: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律師簽核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4270248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逐句確認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才可匯出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定位：自動「擬稿」系統 — </a:t>
            </a: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AI 負責起草與舉證,律師負責判斷與簽核;沒有簽核,系統拒絕匯出。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02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動機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案件量在漲,答辯時間沒有變多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2542032" cy="148132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03120"/>
            <a:ext cx="64008" cy="14813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2677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71,965</a:t>
            </a:r>
            <a:r>
              <a:rPr sz="1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件/年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97180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台灣專利申請量(2025)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2103120"/>
            <a:ext cx="2542032" cy="148132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103120"/>
            <a:ext cx="64008" cy="14813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2677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8 個月</a:t>
            </a:r>
            <a:r>
              <a:rPr sz="1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平均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97180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申請後收到首次 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2542032" cy="148132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03120"/>
            <a:ext cx="64008" cy="14813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2677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2 個月</a:t>
            </a:r>
            <a:r>
              <a:rPr sz="1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法定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97180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收文後答辯期限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59" y="2103120"/>
            <a:ext cx="2542032" cy="148132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59" y="2103120"/>
            <a:ext cx="64008" cy="148132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5" y="22677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不可回復</a:t>
            </a:r>
            <a:r>
              <a:rPr sz="13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逾期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5" y="297180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錯過答辯期限即喪失權利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結果:資深律師時間被重複性前置工作吃掉,品質風險上升。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4572000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473659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那為什麼不直接貼進 ChatGPT?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303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✕ </a:t>
            </a:r>
            <a:r>
              <a:rPr sz="14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機密外洩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59612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客戶案件進了公有模型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39" y="52303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✕ </a:t>
            </a:r>
            <a:r>
              <a:rPr sz="14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捏造引用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39" y="559612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編造判例 = 專業責任事故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2303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✕ </a:t>
            </a:r>
            <a:r>
              <a:rPr sz="14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無稽核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59612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事後無法證明誰看過什麼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52303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✕ </a:t>
            </a:r>
            <a:r>
              <a:rPr sz="14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期限風險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59" y="559612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算錯法定期日不可復原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系統怎麼運作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操作流程：人和系統怎麼分工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flow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15" y="1938528"/>
            <a:ext cx="9128463" cy="4370832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系統怎麼運作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功能模組架構：模組分工與互動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938528"/>
            <a:ext cx="11247120" cy="3795903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5899023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兩條鐵則　</a:t>
            </a:r>
            <a:r>
              <a:rPr sz="13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閘道永不直接呼叫模型;推論引擎不保存任何業務資料。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系統怎麼運作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資料流：從來源到產出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flow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15" y="1938528"/>
            <a:ext cx="9128463" cy="4370832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系統怎麼運作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AI 任務執行流程：六步閉環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flow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15" y="1938528"/>
            <a:ext cx="9128463" cy="4370832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系統怎麼運作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四個「預設開啟、不可關閉」的信任設計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54864" cy="1463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1488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可逆資料遮罩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624328"/>
            <a:ext cx="4892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送往模型前,當事人、案號、聯絡方式先替換成代碼;對照表只存在事務所機器,模型拿到的永遠是代碼。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194560"/>
            <a:ext cx="54864" cy="1463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21488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引證驗證硬牆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624328"/>
            <a:ext cx="4892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模型生成後,系統逐一比對引用是否真的存在於檢索結果;捏造的引用直接剝除並在畫面標示。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77639"/>
            <a:ext cx="54864" cy="1463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93192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不可竄改稽核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407408"/>
            <a:ext cx="4892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每一筆請求寫入一列稽核紀錄,以雜湊鏈串接;任何竄改都會讓驗證亮紅燈,稽核員一鍵可驗。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977639"/>
            <a:ext cx="54864" cy="1463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93192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機密強制地端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407408"/>
            <a:ext cx="4892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案件機密等級由伺服器端登錄決定,未登錄一律視為機密(fail-closed);機密案強制走事務所內的本地模型,程式層直接拒絕外送。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畫面 ①｜登入與角色權限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anding-desktop-1440-chromium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官方入口風格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乾淨版面、弱化技術術語;律師第一眼就知道在哪裡開始。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四種角色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律師 / 助理 / IT / 稽核 — 各自看到的功能與案件都不同。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案件級權限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登入身分決定可碰哪些案件,之後每一筆請求都重新檢查。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畫面 ②｜分析工作台(三欄)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nalyze-empty-desktop-chromium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左欄輸入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案號 + 拖放 PDF / DOCX 或直接貼上 OA 全文。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中右欄結果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分析後中欄出申復書草稿,右欄列審查官引證與檢索命中的前案。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安全狀態一眼可見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頂部顯示「資料遮罩:開啟 / 資料保存於本地」;頁尾四燈顯示各服務健康狀態。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畫面 ③｜草稿與引證驗證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nalyze-result-desktop-chromium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生成 → 驗證兩段式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草稿產生後系統自動驗證每個引用;查無實據的引用直接剝除並標示。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引用可點開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點任何引用即顯示來源文件與原文段落,律師不用自己翻。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逐句簽核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每句標示由 AI 或律師撰寫,逐句 Accept / Edit;全部確認才能匯出。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平台整合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實機整合｜digiRunner 前線閘道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digiRunner(TPIsoftware 開源版)= 企業 API 閘道　</a:t>
            </a:r>
            <a:r>
              <a:rPr sz="15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部署於 :18080,所有前端流量先經過它,再轉發到系統閘道。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6664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88920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路由全自動註冊:12 條 API 路由以管理 API 寫入,零手動設定,重啟自動重建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51847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274123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身分標頭轉發:digiRunner 驗證後以信任標頭傳遞身分;偽造標頭一律 401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37050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759326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為企業落地鋪路:SSO、流量治理、API 金鑰管理都在這一層接上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5394960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559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實機驗證　</a:t>
            </a:r>
            <a:r>
              <a:rPr sz="14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瀏覽器 → digiRunner → 閘道 → 推論引擎完整走通;7 項自動化煙霧測試全數通過。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平台整合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實機整合｜Dify AI 工作流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Dify(社群版,自架)= AI workflow 編排平台　</a:t>
            </a:r>
            <a:r>
              <a:rPr sz="15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部署於 :8088,申復書的解析與草擬透過 Dify workflow 呼叫本地模型 qwen2.5:7b。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6664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88920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一鍵自動建置:管理帳號、模型接入、workflow 匯入、API 金鑰全由腳本完成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51847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274123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提示詞單一來源:workflow 由版本控制中的提示詞檔自動生成,不會兩邊不同步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37050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759326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降級不裝死:Dify 斷線自動退回備援引擎,畫面出現醒目警示,絕不冒充真結果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2225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244530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引證驗證留在系統內:防幻覺的最後一道牆不外包給任何平台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5394960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559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實機驗證　</a:t>
            </a:r>
            <a:r>
              <a:rPr sz="14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OA 範本經 Dify + 本地模型完整分析:約 28 秒產出分類與繁中草稿(2026-06 單次實測)。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平台整合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運行實況｜真實模型的分析結果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al_05_result_real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全鏈路 28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瀏覽器 → digiRunner → 閘道 → 推論引擎 → Dify → 本地模型,無一模擬。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正確抓出瑕疵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台灣 OA 範本:請求項 9「該第一電動車」缺先行詞 — 本地模型分類正確(單一案例,非統計準確率)。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引證驗證(初版)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此畫面由規則硬牆 + mock 驗證器核對;地端逐句對齊驗證開發中。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5084064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047488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繁中申復書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385816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本地模型產出符合公文格式的申復書草稿,逐句簽核後才可匯出。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平台整合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運行實況｜稽核鏈與服務狀態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al_08_chain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記錄實際模型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每筆分析的稽核列寫明用了哪個模型 — 可究責、可回溯。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雜湊鏈全數驗證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29 筆紀錄 0 不一致;一鍵驗證,竄改即現形。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遮罩留痕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命中的遮罩規則寫入稽核,證明遮罩真的有跑。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5084064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047488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四燈全綠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385816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頁尾即時顯示閘道 / 推論引擎 / digiRunner / Dify 健康狀態。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現況與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1,615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後端測試全綠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92024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517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前端 E2E 全綠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0.583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公開評測 hit@5(隨機 0.167)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92024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~28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6517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實機全鏈路分析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" y="3383280"/>
            <a:ext cx="10424160" cy="0"/>
          </a:xfrm>
          <a:prstGeom prst="bentConnector3">
            <a:avLst/>
          </a:prstGeom>
          <a:ln w="1524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61188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 Demo 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① 登入律師帳號,拖入台灣審查意見書範本 PDF(識別碼皆為虛構)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90288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② 系統分類核駁、檢索證據、產出繁中申復書草稿與期限(經 digiRunner 與 Dify,本地模型)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5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③ 切換稽核員帳號:驗證雜湊鏈,展示每一步的不可竄改紀錄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Thank you.　</a:t>
            </a:r>
            <a:r>
              <a:rPr sz="1500" b="0">
                <a:solidFill>
                  <a:srgbClr val="9DACD4"/>
                </a:solidFill>
                <a:latin typeface="Microsoft JhengHei"/>
                <a:ea typeface="Microsoft JhengHei"/>
                <a:cs typeface="Microsoft JhengHei"/>
              </a:rPr>
              <a:t>歡迎現場實際操作 — 整套系統就在這台機器上跑著。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