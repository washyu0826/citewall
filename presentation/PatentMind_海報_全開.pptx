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328112" cy="393100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28112" cy="39310056"/>
          </a:xfrm>
          <a:prstGeom prst="rect">
            <a:avLst/>
          </a:prstGeom>
        </p:spPr>
      </p:pic>
      <p:pic>
        <p:nvPicPr>
          <p:cNvPr id="3" name="Picture 2" descr="logo_wo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13232"/>
            <a:ext cx="5690997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57400"/>
            <a:ext cx="261335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專利 OA 答辯自動擬稿系統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950208"/>
            <a:ext cx="2240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上傳審查意見書，AI 分類核駁、檢索前案、產出申復書草稿與法定期限　—　</a:t>
            </a:r>
            <a:r>
              <a:rPr sz="3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機密資料全程不出事務所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846320"/>
            <a:ext cx="2359152" cy="603504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5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846320"/>
            <a:ext cx="23591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可逆遮罩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4846320"/>
            <a:ext cx="3127248" cy="603504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5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4846320"/>
            <a:ext cx="31272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引證驗證硬牆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4846320"/>
            <a:ext cx="3127248" cy="603504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5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4846320"/>
            <a:ext cx="31272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不可竄改稽核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08792" y="4846320"/>
            <a:ext cx="3127248" cy="603504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5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8792" y="4846320"/>
            <a:ext cx="31272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機密強制地端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6949440"/>
            <a:ext cx="603504" cy="603504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967727"/>
            <a:ext cx="603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6894576"/>
            <a:ext cx="2194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案件量在漲，答辯時間沒有變多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3391" y="7735823"/>
            <a:ext cx="1554480" cy="6858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3856" y="7973568"/>
            <a:ext cx="274320" cy="1097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8211312"/>
            <a:ext cx="60761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71,965</a:t>
            </a:r>
            <a:r>
              <a:rPr sz="2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件/年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9372600"/>
            <a:ext cx="59847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台灣專利申請量（2025）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8683" y="7973568"/>
            <a:ext cx="274320" cy="1097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2108" y="8211312"/>
            <a:ext cx="60761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8 個月</a:t>
            </a:r>
            <a:r>
              <a:rPr sz="2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平均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8683" y="9372600"/>
            <a:ext cx="59847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申請後收到首次 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0940" y="8046720"/>
            <a:ext cx="20116" cy="1874519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83512" y="7973568"/>
            <a:ext cx="274320" cy="1097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6936" y="8211312"/>
            <a:ext cx="60761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2 個月</a:t>
            </a:r>
            <a:r>
              <a:rPr sz="2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法定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83512" y="9372600"/>
            <a:ext cx="59847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收文後答辯期限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45768" y="8046720"/>
            <a:ext cx="20116" cy="1874519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008340" y="7973568"/>
            <a:ext cx="274320" cy="1097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71764" y="8211312"/>
            <a:ext cx="60761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不可回復</a:t>
            </a:r>
            <a:r>
              <a:rPr sz="2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逾期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08340" y="9372600"/>
            <a:ext cx="59847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錯過答辯期限即喪失權利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70596" y="8046720"/>
            <a:ext cx="20116" cy="1874519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10104120"/>
            <a:ext cx="2613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為什麼不直接貼 ChatGPT？　</a:t>
            </a: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機密外洩 · 捏造引用 · 無稽核紀錄 · 期限算錯不可復原 — 所以需要一座有護欄的系統。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10698480"/>
            <a:ext cx="603504" cy="603504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10716767"/>
            <a:ext cx="603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10643615"/>
            <a:ext cx="2194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功能模組架構 — 一條安全管線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93391" y="11484863"/>
            <a:ext cx="1554480" cy="6858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11475720"/>
            <a:ext cx="26499312" cy="65436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_tmp_plain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1887200"/>
            <a:ext cx="19202400" cy="54006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914400" y="17425035"/>
            <a:ext cx="26499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兩條鐵則　</a:t>
            </a:r>
            <a:r>
              <a:rPr sz="2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閘道永不直接呼叫模型；推論引擎不保存任何業務資料。</a:t>
            </a:r>
          </a:p>
        </p:txBody>
      </p:sp>
      <p:sp>
        <p:nvSpPr>
          <p:cNvPr id="41" name="Oval 40"/>
          <p:cNvSpPr/>
          <p:nvPr/>
        </p:nvSpPr>
        <p:spPr>
          <a:xfrm>
            <a:off x="1097280" y="18385155"/>
            <a:ext cx="603504" cy="603504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18403443"/>
            <a:ext cx="603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18330291"/>
            <a:ext cx="2194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操作流程 × 資料流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93391" y="19171539"/>
            <a:ext cx="1554480" cy="6858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4400" y="19345275"/>
            <a:ext cx="12929616" cy="52822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_tmp_plain_flow_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688" y="19802475"/>
            <a:ext cx="10607040" cy="4413607"/>
          </a:xfrm>
          <a:prstGeom prst="rect">
            <a:avLst/>
          </a:prstGeom>
          <a:effectLst/>
        </p:spPr>
      </p:pic>
      <p:sp>
        <p:nvSpPr>
          <p:cNvPr id="47" name="Rounded Rectangle 46"/>
          <p:cNvSpPr/>
          <p:nvPr/>
        </p:nvSpPr>
        <p:spPr>
          <a:xfrm>
            <a:off x="1417320" y="19043523"/>
            <a:ext cx="6327648" cy="60350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17320" y="19043523"/>
            <a:ext cx="63276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操作流程｜使用者只做 4 件事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484096" y="19345275"/>
            <a:ext cx="12929616" cy="52822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_tmp_plain_flow_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5384" y="19802475"/>
            <a:ext cx="10607040" cy="4413607"/>
          </a:xfrm>
          <a:prstGeom prst="rect">
            <a:avLst/>
          </a:prstGeom>
          <a:effectLst/>
        </p:spPr>
      </p:pic>
      <p:sp>
        <p:nvSpPr>
          <p:cNvPr id="51" name="Rounded Rectangle 50"/>
          <p:cNvSpPr/>
          <p:nvPr/>
        </p:nvSpPr>
        <p:spPr>
          <a:xfrm>
            <a:off x="14987016" y="19043523"/>
            <a:ext cx="6711696" cy="60350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987016" y="19043523"/>
            <a:ext cx="67116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資料流｜每一步都知道資料在誰手上</a:t>
            </a:r>
          </a:p>
        </p:txBody>
      </p:sp>
      <p:sp>
        <p:nvSpPr>
          <p:cNvPr id="53" name="Oval 52"/>
          <p:cNvSpPr/>
          <p:nvPr/>
        </p:nvSpPr>
        <p:spPr>
          <a:xfrm>
            <a:off x="1097280" y="25176202"/>
            <a:ext cx="603504" cy="603504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25194490"/>
            <a:ext cx="603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60" y="25121338"/>
            <a:ext cx="2194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AI 任務執行流程 × 信任設計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93391" y="25962586"/>
            <a:ext cx="1554480" cy="6858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26136322"/>
            <a:ext cx="12929616" cy="52822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_tmp_plain_flow_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5688" y="26593522"/>
            <a:ext cx="10607040" cy="4413607"/>
          </a:xfrm>
          <a:prstGeom prst="rect">
            <a:avLst/>
          </a:prstGeom>
          <a:effectLst/>
        </p:spPr>
      </p:pic>
      <p:sp>
        <p:nvSpPr>
          <p:cNvPr id="59" name="Rounded Rectangle 58"/>
          <p:cNvSpPr/>
          <p:nvPr/>
        </p:nvSpPr>
        <p:spPr>
          <a:xfrm>
            <a:off x="1417320" y="25834570"/>
            <a:ext cx="7095744" cy="60350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17320" y="25834570"/>
            <a:ext cx="7095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流程｜先舉證、再下筆、寫完還要驗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484096" y="26136322"/>
            <a:ext cx="6272784" cy="24491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868144" y="26520370"/>
            <a:ext cx="512064" cy="512064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868144" y="26529514"/>
            <a:ext cx="5120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81376" y="26520370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可逆資料遮罩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895576" y="27215314"/>
            <a:ext cx="5449824" cy="116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進模型前當事人、案號先變代碼；對照表只存事務所機器。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140928" y="26136322"/>
            <a:ext cx="6272784" cy="24491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524976" y="26520370"/>
            <a:ext cx="512064" cy="512064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524976" y="26529514"/>
            <a:ext cx="5120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38208" y="26520370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引證驗證硬牆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552408" y="27215314"/>
            <a:ext cx="5449824" cy="116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引用逐一比對檢索結果；捏造的直接剝除標示，不可繞過。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484096" y="28969489"/>
            <a:ext cx="6272784" cy="24491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4868144" y="29353537"/>
            <a:ext cx="512064" cy="512064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868144" y="29362681"/>
            <a:ext cx="5120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581376" y="29353537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不可竄改稽核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895576" y="30048481"/>
            <a:ext cx="5449824" cy="116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每筆請求一列紀錄、雜湊鏈串接；竄改即現形，一鍵可驗。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140928" y="28969489"/>
            <a:ext cx="6272784" cy="24491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1524976" y="29353537"/>
            <a:ext cx="512064" cy="512064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524976" y="29362681"/>
            <a:ext cx="5120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238208" y="29353537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機密強制地端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552408" y="30048481"/>
            <a:ext cx="5449824" cy="116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機密案件強制走本地模型；設錯時程式層直接拒絕外送。</a:t>
            </a:r>
          </a:p>
        </p:txBody>
      </p:sp>
      <p:sp>
        <p:nvSpPr>
          <p:cNvPr id="81" name="Oval 80"/>
          <p:cNvSpPr/>
          <p:nvPr/>
        </p:nvSpPr>
        <p:spPr>
          <a:xfrm>
            <a:off x="1097280" y="31967249"/>
            <a:ext cx="603504" cy="603504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97280" y="31985537"/>
            <a:ext cx="603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65960" y="31912385"/>
            <a:ext cx="2194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運行實況 — 本地模型、實機鏈路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93391" y="32753633"/>
            <a:ext cx="1554480" cy="6858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real_05_result_real_qw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516000">
            <a:off x="914400" y="33110249"/>
            <a:ext cx="5705856" cy="3566160"/>
          </a:xfrm>
          <a:prstGeom prst="rect">
            <a:avLst/>
          </a:prstGeom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</p:pic>
      <p:sp>
        <p:nvSpPr>
          <p:cNvPr id="86" name="Rounded Rectangle 85"/>
          <p:cNvSpPr/>
          <p:nvPr/>
        </p:nvSpPr>
        <p:spPr>
          <a:xfrm>
            <a:off x="1325880" y="36420377"/>
            <a:ext cx="4882896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25880" y="36420377"/>
            <a:ext cx="488289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qwen2.5:7b 抓出範本 OA 請求項 9 缺先行詞（單例）</a:t>
            </a:r>
          </a:p>
        </p:txBody>
      </p:sp>
      <p:pic>
        <p:nvPicPr>
          <p:cNvPr id="88" name="Picture 87" descr="real_08_chain_verifi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84000">
            <a:off x="7123176" y="33110249"/>
            <a:ext cx="5705856" cy="3566160"/>
          </a:xfrm>
          <a:prstGeom prst="rect">
            <a:avLst/>
          </a:prstGeom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</p:pic>
      <p:sp>
        <p:nvSpPr>
          <p:cNvPr id="89" name="Rounded Rectangle 88"/>
          <p:cNvSpPr/>
          <p:nvPr/>
        </p:nvSpPr>
        <p:spPr>
          <a:xfrm>
            <a:off x="7534656" y="36420377"/>
            <a:ext cx="4882896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34656" y="36420377"/>
            <a:ext cx="488289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稽核鏈一鍵驗證：29 筆紀錄 0 不一致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560552" y="33110249"/>
            <a:ext cx="13853159" cy="3566160"/>
          </a:xfrm>
          <a:prstGeom prst="roundRect">
            <a:avLst>
              <a:gd name="adj" fmla="val 7000"/>
            </a:avLst>
          </a:prstGeom>
          <a:solidFill>
            <a:srgbClr val="12245C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109192" y="34024649"/>
            <a:ext cx="3006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1,615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109192" y="35076209"/>
            <a:ext cx="30060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後端測試全綠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298162" y="34024649"/>
            <a:ext cx="3006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92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298162" y="35076209"/>
            <a:ext cx="30060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前端 E2E 全綠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487132" y="34024649"/>
            <a:ext cx="3006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0.583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487132" y="35076209"/>
            <a:ext cx="30060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公開評測 hit@5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676102" y="34024649"/>
            <a:ext cx="30060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~28 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676102" y="35076209"/>
            <a:ext cx="300608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實機全鏈路分析</a:t>
            </a:r>
          </a:p>
        </p:txBody>
      </p:sp>
      <p:sp>
        <p:nvSpPr>
          <p:cNvPr id="100" name="Oval 99"/>
          <p:cNvSpPr/>
          <p:nvPr/>
        </p:nvSpPr>
        <p:spPr>
          <a:xfrm rot="21000000">
            <a:off x="26270711" y="32470169"/>
            <a:ext cx="1508760" cy="1508760"/>
          </a:xfrm>
          <a:prstGeom prst="ellipse">
            <a:avLst/>
          </a:prstGeom>
          <a:solidFill>
            <a:srgbClr val="F5B020"/>
          </a:solidFill>
          <a:ln>
            <a:noFill/>
          </a:ln>
          <a:effectLst>
            <a:outerShdw blurRad="110000" dist="42000" dir="5400000" rotWithShape="0">
              <a:srgbClr val="1A22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 rot="21000000">
            <a:off x="26270711" y="32543321"/>
            <a:ext cx="15087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2245C"/>
                </a:solidFill>
                <a:latin typeface="Microsoft JhengHei"/>
                <a:ea typeface="Microsoft JhengHei"/>
                <a:cs typeface="Microsoft JhengHei"/>
              </a:rPr>
              <a:t>ALL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2245C"/>
                </a:solidFill>
                <a:latin typeface="Microsoft JhengHei"/>
                <a:ea typeface="Microsoft JhengHei"/>
                <a:cs typeface="Microsoft JhengHei"/>
              </a:rPr>
              <a:t>GREEN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7280" y="38349936"/>
            <a:ext cx="26133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7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實機整合 TPIsoftware digiRunner × Dify　·　本地模型 qwen2.5:7b　·　</a:t>
            </a: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NCCU GDGoC × Computex 2026　|　PatentMind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